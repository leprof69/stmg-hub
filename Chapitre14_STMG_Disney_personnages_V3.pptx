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421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972800" y="91440"/>
            <a:ext cx="1005840" cy="1005840"/>
          </a:xfrm>
          <a:prstGeom prst="ellipse">
            <a:avLst/>
          </a:prstGeom>
          <a:solidFill>
            <a:srgbClr val="F4C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600"/>
            </a:pPr>
            <a:r>
              <a:t>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8016"/>
            <a:ext cx="10241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</a:defRPr>
            </a:pPr>
            <a:r>
              <a:t>1. Rapport au travail - Découverte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960120"/>
            <a:ext cx="11064240" cy="594360"/>
          </a:xfrm>
          <a:prstGeom prst="roundRect">
            <a:avLst/>
          </a:prstGeom>
          <a:solidFill>
            <a:srgbClr val="FFFFFF"/>
          </a:solidFill>
          <a:ln>
            <a:solidFill>
              <a:srgbClr val="2B6E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2B6EB6"/>
                </a:solidFill>
              </a:defRPr>
            </a:pPr>
            <a:r>
              <a:t>Objectif : Comprendre les nouvelles attentes au travail.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37360"/>
            <a:ext cx="722376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B9CD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600">
                <a:solidFill>
                  <a:srgbClr val="14214B"/>
                </a:solidFill>
              </a:defRPr>
            </a:pPr>
            <a:r>
              <a:t>Cas Disney</a:t>
            </a:r>
          </a:p>
          <a:p>
            <a:pPr>
              <a:defRPr sz="1300">
                <a:solidFill>
                  <a:srgbClr val="1E1E1E"/>
                </a:solidFill>
              </a:defRPr>
            </a:pPr>
            <a:r>
              <a:t>• Organisation: Monstres &amp; Cie (usine d'énergie).</a:t>
            </a:r>
          </a:p>
          <a:p>
            <a:pPr>
              <a:defRPr sz="1300">
                <a:solidFill>
                  <a:srgbClr val="1E1E1E"/>
                </a:solidFill>
              </a:defRPr>
            </a:pPr>
            <a:r>
              <a:t>• Sully et Bob forment une nouvelle équipe avec de jeunes recrues.</a:t>
            </a:r>
          </a:p>
          <a:p>
            <a:pPr>
              <a:defRPr sz="1300">
                <a:solidFill>
                  <a:srgbClr val="1E1E1E"/>
                </a:solidFill>
              </a:defRPr>
            </a:pPr>
            <a:r>
              <a:t>• Les jeunes employés demandent plus d'autonomie et des horaires flexibles.</a:t>
            </a:r>
          </a:p>
          <a:p>
            <a:pPr>
              <a:defRPr sz="1300">
                <a:solidFill>
                  <a:srgbClr val="1E1E1E"/>
                </a:solidFill>
              </a:defRPr>
            </a:pPr>
            <a:r>
              <a:t>• Célia, manager, garde un contrôle très strict sur chaque tâche.</a:t>
            </a:r>
          </a:p>
          <a:p>
            <a:pPr>
              <a:defRPr sz="1300">
                <a:solidFill>
                  <a:srgbClr val="1E1E1E"/>
                </a:solidFill>
              </a:defRPr>
            </a:pPr>
            <a:r>
              <a:t>• Résultat: ambiance tendue et baisse des idées proposées.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55279" y="1737360"/>
            <a:ext cx="365760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B9CD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600">
                <a:solidFill>
                  <a:srgbClr val="14214B"/>
                </a:solidFill>
              </a:defRPr>
            </a:pPr>
            <a:r>
              <a:t>Questions élèves</a:t>
            </a:r>
          </a:p>
          <a:p>
            <a:pPr>
              <a:defRPr sz="1300">
                <a:solidFill>
                  <a:srgbClr val="1E1E1E"/>
                </a:solidFill>
              </a:defRPr>
            </a:pPr>
            <a:r>
              <a:t>• 1) Quelles attentes des salariés vois-tu?</a:t>
            </a:r>
          </a:p>
          <a:p>
            <a:pPr>
              <a:defRPr sz="1300">
                <a:solidFill>
                  <a:srgbClr val="1E1E1E"/>
                </a:solidFill>
              </a:defRPr>
            </a:pPr>
            <a:r>
              <a:t>• 2) Où est le conflit dans l'organisation?</a:t>
            </a:r>
          </a:p>
          <a:p>
            <a:pPr>
              <a:defRPr sz="1300">
                <a:solidFill>
                  <a:srgbClr val="1E1E1E"/>
                </a:solidFill>
              </a:defRPr>
            </a:pPr>
            <a:r>
              <a:t>• 3) Quels risques pour Monstres &amp; Cie?</a:t>
            </a:r>
          </a:p>
          <a:p>
            <a:pPr>
              <a:defRPr sz="1300">
                <a:solidFill>
                  <a:srgbClr val="1E1E1E"/>
                </a:solidFill>
              </a:defRPr>
            </a:pPr>
            <a:r>
              <a:t>• 4) Propose 2 solutions concrètes.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421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972800" y="91440"/>
            <a:ext cx="1005840" cy="1005840"/>
          </a:xfrm>
          <a:prstGeom prst="ellipse">
            <a:avLst/>
          </a:prstGeom>
          <a:solidFill>
            <a:srgbClr val="F4C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600"/>
            </a:pPr>
            <a:r>
              <a:t>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8016"/>
            <a:ext cx="10241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</a:defRPr>
            </a:pPr>
            <a:r>
              <a:t>2. Rapport au travail - Correction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960120"/>
            <a:ext cx="11064240" cy="594360"/>
          </a:xfrm>
          <a:prstGeom prst="roundRect">
            <a:avLst/>
          </a:prstGeom>
          <a:solidFill>
            <a:srgbClr val="FFFFFF"/>
          </a:solidFill>
          <a:ln>
            <a:solidFill>
              <a:srgbClr val="2B6E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2B6EB6"/>
                </a:solidFill>
              </a:defRPr>
            </a:pPr>
            <a:r>
              <a:t>Objectif : Valider les éléments clés.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37360"/>
            <a:ext cx="722376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B9CD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600">
                <a:solidFill>
                  <a:srgbClr val="14214B"/>
                </a:solidFill>
              </a:defRPr>
            </a:pPr>
            <a:r>
              <a:t>Cas Disney</a:t>
            </a:r>
          </a:p>
          <a:p>
            <a:pPr>
              <a:defRPr sz="1300">
                <a:solidFill>
                  <a:srgbClr val="1E1E1E"/>
                </a:solidFill>
              </a:defRPr>
            </a:pPr>
            <a:r>
              <a:t>• Attentes repérées: autonomie, confiance, équilibre, reconnaissance.</a:t>
            </a:r>
          </a:p>
          <a:p>
            <a:pPr>
              <a:defRPr sz="1300">
                <a:solidFill>
                  <a:srgbClr val="1E1E1E"/>
                </a:solidFill>
              </a:defRPr>
            </a:pPr>
            <a:r>
              <a:t>• Conflit: management très contrôlant vs besoin de liberté.</a:t>
            </a:r>
          </a:p>
          <a:p>
            <a:pPr>
              <a:defRPr sz="1300">
                <a:solidFill>
                  <a:srgbClr val="1E1E1E"/>
                </a:solidFill>
              </a:defRPr>
            </a:pPr>
            <a:r>
              <a:t>• Risques: démotivation, départ des talents, baisse de performance.</a:t>
            </a:r>
          </a:p>
          <a:p>
            <a:pPr>
              <a:defRPr sz="1300">
                <a:solidFill>
                  <a:srgbClr val="1E1E1E"/>
                </a:solidFill>
              </a:defRPr>
            </a:pPr>
            <a:r>
              <a:t>• Solutions: objectifs clairs, feedback régulier, plus de délégation.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55279" y="1737360"/>
            <a:ext cx="365760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B9CD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600">
                <a:solidFill>
                  <a:srgbClr val="14214B"/>
                </a:solidFill>
              </a:defRPr>
            </a:pPr>
            <a:r>
              <a:t>Questions élèves</a:t>
            </a:r>
          </a:p>
          <a:p>
            <a:pPr>
              <a:defRPr sz="1300">
                <a:solidFill>
                  <a:srgbClr val="1E1E1E"/>
                </a:solidFill>
              </a:defRPr>
            </a:pPr>
            <a:r>
              <a:t>• Compare avec ta réponse.</a:t>
            </a:r>
          </a:p>
          <a:p>
            <a:pPr>
              <a:defRPr sz="1300">
                <a:solidFill>
                  <a:srgbClr val="1E1E1E"/>
                </a:solidFill>
              </a:defRPr>
            </a:pPr>
            <a:r>
              <a:t>• Recopie les 4 mots-clés.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421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972800" y="91440"/>
            <a:ext cx="1005840" cy="1005840"/>
          </a:xfrm>
          <a:prstGeom prst="ellipse">
            <a:avLst/>
          </a:prstGeom>
          <a:solidFill>
            <a:srgbClr val="F4C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600"/>
            </a:pPr>
            <a:r>
              <a:t>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8016"/>
            <a:ext cx="10241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</a:defRPr>
            </a:pPr>
            <a:r>
              <a:t>3. Rapport au travail - Co-construction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960120"/>
            <a:ext cx="11064240" cy="594360"/>
          </a:xfrm>
          <a:prstGeom prst="roundRect">
            <a:avLst/>
          </a:prstGeom>
          <a:solidFill>
            <a:srgbClr val="FFFFFF"/>
          </a:solidFill>
          <a:ln>
            <a:solidFill>
              <a:srgbClr val="2B6E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2B6EB6"/>
                </a:solidFill>
              </a:defRPr>
            </a:pPr>
            <a:r>
              <a:t>Objectif : Construire la définition ensemble.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37360"/>
            <a:ext cx="722376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B9CD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600">
                <a:solidFill>
                  <a:srgbClr val="14214B"/>
                </a:solidFill>
              </a:defRPr>
            </a:pPr>
            <a:r>
              <a:t>Cas Disney</a:t>
            </a:r>
          </a:p>
          <a:p>
            <a:pPr>
              <a:defRPr sz="1300">
                <a:solidFill>
                  <a:srgbClr val="1E1E1E"/>
                </a:solidFill>
              </a:defRPr>
            </a:pPr>
            <a:r>
              <a:t>• Question A: que veulent les salariés aujourd'hui?</a:t>
            </a:r>
          </a:p>
          <a:p>
            <a:pPr>
              <a:defRPr sz="1300">
                <a:solidFill>
                  <a:srgbClr val="1E1E1E"/>
                </a:solidFill>
              </a:defRPr>
            </a:pPr>
            <a:r>
              <a:t>• Question B: pourquoi le management doit évoluer?</a:t>
            </a:r>
          </a:p>
          <a:p>
            <a:pPr>
              <a:defRPr sz="1300">
                <a:solidFill>
                  <a:srgbClr val="1E1E1E"/>
                </a:solidFill>
              </a:defRPr>
            </a:pPr>
            <a:r>
              <a:t>• Question C: comment concilier bien-être et performance?</a:t>
            </a:r>
          </a:p>
          <a:p>
            <a:pPr>
              <a:defRPr sz="1300">
                <a:solidFill>
                  <a:srgbClr val="1E1E1E"/>
                </a:solidFill>
              </a:defRPr>
            </a:pPr>
            <a:r>
              <a:t>• Classe: écrire une définition commune.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55279" y="1737360"/>
            <a:ext cx="365760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B9CD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600">
                <a:solidFill>
                  <a:srgbClr val="14214B"/>
                </a:solidFill>
              </a:defRPr>
            </a:pPr>
            <a:r>
              <a:t>Questions élèves</a:t>
            </a:r>
          </a:p>
          <a:p>
            <a:pPr>
              <a:defRPr sz="1300">
                <a:solidFill>
                  <a:srgbClr val="1E1E1E"/>
                </a:solidFill>
              </a:defRPr>
            </a:pPr>
            <a:r>
              <a:t>• En binôme, rédige 1 définition.</a:t>
            </a:r>
          </a:p>
          <a:p>
            <a:pPr>
              <a:defRPr sz="1300">
                <a:solidFill>
                  <a:srgbClr val="1E1E1E"/>
                </a:solidFill>
              </a:defRPr>
            </a:pPr>
            <a:r>
              <a:t>• Ajoute 3 mots-clés essentiels.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421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972800" y="91440"/>
            <a:ext cx="1005840" cy="1005840"/>
          </a:xfrm>
          <a:prstGeom prst="ellipse">
            <a:avLst/>
          </a:prstGeom>
          <a:solidFill>
            <a:srgbClr val="F4C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600"/>
            </a:pPr>
            <a:r>
              <a:t>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8016"/>
            <a:ext cx="10241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</a:defRPr>
            </a:pPr>
            <a:r>
              <a:t>4. Rapport au travail - Synthèse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960120"/>
            <a:ext cx="11064240" cy="594360"/>
          </a:xfrm>
          <a:prstGeom prst="roundRect">
            <a:avLst/>
          </a:prstGeom>
          <a:solidFill>
            <a:srgbClr val="FFFFFF"/>
          </a:solidFill>
          <a:ln>
            <a:solidFill>
              <a:srgbClr val="2B6E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2B6EB6"/>
                </a:solidFill>
              </a:defRPr>
            </a:pPr>
            <a:r>
              <a:t>Objectif : Mémoriser la notion.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37360"/>
            <a:ext cx="722376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B9CD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600">
                <a:solidFill>
                  <a:srgbClr val="14214B"/>
                </a:solidFill>
              </a:defRPr>
            </a:pPr>
            <a:r>
              <a:t>Cas Disney</a:t>
            </a:r>
          </a:p>
          <a:p>
            <a:pPr>
              <a:defRPr sz="1300">
                <a:solidFill>
                  <a:srgbClr val="1E1E1E"/>
                </a:solidFill>
              </a:defRPr>
            </a:pPr>
            <a:r>
              <a:t>• Définition: manière dont les individus perçoivent le travail.</a:t>
            </a:r>
          </a:p>
          <a:p>
            <a:pPr>
              <a:defRPr sz="1300">
                <a:solidFill>
                  <a:srgbClr val="1E1E1E"/>
                </a:solidFill>
              </a:defRPr>
            </a:pPr>
            <a:r>
              <a:t>• Aujourd'hui: besoin de sens, autonomie, flexibilité.</a:t>
            </a:r>
          </a:p>
          <a:p>
            <a:pPr>
              <a:defRPr sz="1300">
                <a:solidFill>
                  <a:srgbClr val="1E1E1E"/>
                </a:solidFill>
              </a:defRPr>
            </a:pPr>
            <a:r>
              <a:t>• Impact: les organisations doivent adapter leur management.</a:t>
            </a:r>
          </a:p>
          <a:p>
            <a:pPr>
              <a:defRPr sz="1300">
                <a:solidFill>
                  <a:srgbClr val="1E1E1E"/>
                </a:solidFill>
              </a:defRPr>
            </a:pPr>
            <a:r>
              <a:t>• Idée clé: bien-être et performance sont liés.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55279" y="1737360"/>
            <a:ext cx="365760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B9CD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600">
                <a:solidFill>
                  <a:srgbClr val="14214B"/>
                </a:solidFill>
              </a:defRPr>
            </a:pPr>
            <a:r>
              <a:t>Questions élèves</a:t>
            </a:r>
          </a:p>
          <a:p>
            <a:pPr>
              <a:defRPr sz="1300">
                <a:solidFill>
                  <a:srgbClr val="1E1E1E"/>
                </a:solidFill>
              </a:defRPr>
            </a:pPr>
            <a:r>
              <a:t>• Apprendre la définition.</a:t>
            </a:r>
          </a:p>
          <a:p>
            <a:pPr>
              <a:defRPr sz="1300">
                <a:solidFill>
                  <a:srgbClr val="1E1E1E"/>
                </a:solidFill>
              </a:defRPr>
            </a:pPr>
            <a:r>
              <a:t>• Retenir 4 mots-clés.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421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972800" y="91440"/>
            <a:ext cx="1005840" cy="1005840"/>
          </a:xfrm>
          <a:prstGeom prst="ellipse">
            <a:avLst/>
          </a:prstGeom>
          <a:solidFill>
            <a:srgbClr val="F4C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600"/>
            </a:pPr>
            <a:r>
              <a:t>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8016"/>
            <a:ext cx="10241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</a:defRPr>
            </a:pPr>
            <a:r>
              <a:t>5. Télétravail - Découverte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960120"/>
            <a:ext cx="11064240" cy="594360"/>
          </a:xfrm>
          <a:prstGeom prst="roundRect">
            <a:avLst/>
          </a:prstGeom>
          <a:solidFill>
            <a:srgbClr val="FFFFFF"/>
          </a:solidFill>
          <a:ln>
            <a:solidFill>
              <a:srgbClr val="2B6E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2B6EB6"/>
                </a:solidFill>
              </a:defRPr>
            </a:pPr>
            <a:r>
              <a:t>Objectif : Analyser les effets du télétravail.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37360"/>
            <a:ext cx="722376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B9CD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600">
                <a:solidFill>
                  <a:srgbClr val="14214B"/>
                </a:solidFill>
              </a:defRPr>
            </a:pPr>
            <a:r>
              <a:t>Cas Disney</a:t>
            </a:r>
          </a:p>
          <a:p>
            <a:pPr>
              <a:defRPr sz="1300">
                <a:solidFill>
                  <a:srgbClr val="1E1E1E"/>
                </a:solidFill>
              </a:defRPr>
            </a:pPr>
            <a:r>
              <a:t>• Organisation: QG des Indestructibles (agence de gestion des missions).</a:t>
            </a:r>
          </a:p>
          <a:p>
            <a:pPr>
              <a:defRPr sz="1300">
                <a:solidFill>
                  <a:srgbClr val="1E1E1E"/>
                </a:solidFill>
              </a:defRPr>
            </a:pPr>
            <a:r>
              <a:t>• Violette et Flèche travaillent à distance sur la planification.</a:t>
            </a:r>
          </a:p>
          <a:p>
            <a:pPr>
              <a:defRPr sz="1300">
                <a:solidFill>
                  <a:srgbClr val="1E1E1E"/>
                </a:solidFill>
              </a:defRPr>
            </a:pPr>
            <a:r>
              <a:t>• Mr Indestructible préfère les réunions en présentiel.</a:t>
            </a:r>
          </a:p>
          <a:p>
            <a:pPr>
              <a:defRPr sz="1300">
                <a:solidFill>
                  <a:srgbClr val="1E1E1E"/>
                </a:solidFill>
              </a:defRPr>
            </a:pPr>
            <a:r>
              <a:t>• Frozone constate des retards de coordination entre équipes.</a:t>
            </a:r>
          </a:p>
          <a:p>
            <a:pPr>
              <a:defRPr sz="1300">
                <a:solidFill>
                  <a:srgbClr val="1E1E1E"/>
                </a:solidFill>
              </a:defRPr>
            </a:pPr>
            <a:r>
              <a:t>• La direction hésite entre tout présentiel et modèle hybride.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55279" y="1737360"/>
            <a:ext cx="365760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B9CD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600">
                <a:solidFill>
                  <a:srgbClr val="14214B"/>
                </a:solidFill>
              </a:defRPr>
            </a:pPr>
            <a:r>
              <a:t>Questions élèves</a:t>
            </a:r>
          </a:p>
          <a:p>
            <a:pPr>
              <a:defRPr sz="1300">
                <a:solidFill>
                  <a:srgbClr val="1E1E1E"/>
                </a:solidFill>
              </a:defRPr>
            </a:pPr>
            <a:r>
              <a:t>• 1) Donne 2 avantages du télétravail.</a:t>
            </a:r>
          </a:p>
          <a:p>
            <a:pPr>
              <a:defRPr sz="1300">
                <a:solidFill>
                  <a:srgbClr val="1E1E1E"/>
                </a:solidFill>
              </a:defRPr>
            </a:pPr>
            <a:r>
              <a:t>• 2) Donne 2 limites du télétravail.</a:t>
            </a:r>
          </a:p>
          <a:p>
            <a:pPr>
              <a:defRPr sz="1300">
                <a:solidFill>
                  <a:srgbClr val="1E1E1E"/>
                </a:solidFill>
              </a:defRPr>
            </a:pPr>
            <a:r>
              <a:t>• 3) Pourquoi les équipes réagissent différemment?</a:t>
            </a:r>
          </a:p>
          <a:p>
            <a:pPr>
              <a:defRPr sz="1300">
                <a:solidFill>
                  <a:srgbClr val="1E1E1E"/>
                </a:solidFill>
              </a:defRPr>
            </a:pPr>
            <a:r>
              <a:t>• 4) Quelle solution proposes-tu?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421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972800" y="91440"/>
            <a:ext cx="1005840" cy="1005840"/>
          </a:xfrm>
          <a:prstGeom prst="ellipse">
            <a:avLst/>
          </a:prstGeom>
          <a:solidFill>
            <a:srgbClr val="F4C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600"/>
            </a:pPr>
            <a:r>
              <a:t>🛠️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8016"/>
            <a:ext cx="10241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</a:defRPr>
            </a:pPr>
            <a:r>
              <a:t>6. Télétravail - Correction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960120"/>
            <a:ext cx="11064240" cy="594360"/>
          </a:xfrm>
          <a:prstGeom prst="roundRect">
            <a:avLst/>
          </a:prstGeom>
          <a:solidFill>
            <a:srgbClr val="FFFFFF"/>
          </a:solidFill>
          <a:ln>
            <a:solidFill>
              <a:srgbClr val="2B6E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2B6EB6"/>
                </a:solidFill>
              </a:defRPr>
            </a:pPr>
            <a:r>
              <a:t>Objectif : Corriger avec des arguments.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37360"/>
            <a:ext cx="722376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B9CD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600">
                <a:solidFill>
                  <a:srgbClr val="14214B"/>
                </a:solidFill>
              </a:defRPr>
            </a:pPr>
            <a:r>
              <a:t>Cas Disney</a:t>
            </a:r>
          </a:p>
          <a:p>
            <a:pPr>
              <a:defRPr sz="1300">
                <a:solidFill>
                  <a:srgbClr val="1E1E1E"/>
                </a:solidFill>
              </a:defRPr>
            </a:pPr>
            <a:r>
              <a:t>• Avantages: souplesse, moins de trajets, meilleure concentration.</a:t>
            </a:r>
          </a:p>
          <a:p>
            <a:pPr>
              <a:defRPr sz="1300">
                <a:solidFill>
                  <a:srgbClr val="1E1E1E"/>
                </a:solidFill>
              </a:defRPr>
            </a:pPr>
            <a:r>
              <a:t>• Limites: isolement, communication plus complexe, coordination fragile.</a:t>
            </a:r>
          </a:p>
          <a:p>
            <a:pPr>
              <a:defRPr sz="1300">
                <a:solidFill>
                  <a:srgbClr val="1E1E1E"/>
                </a:solidFill>
              </a:defRPr>
            </a:pPr>
            <a:r>
              <a:t>• Les effets varient selon le métier et l'autonomie.</a:t>
            </a:r>
          </a:p>
          <a:p>
            <a:pPr>
              <a:defRPr sz="1300">
                <a:solidFill>
                  <a:srgbClr val="1E1E1E"/>
                </a:solidFill>
              </a:defRPr>
            </a:pPr>
            <a:r>
              <a:t>• Solution efficace: hybride + règles claires + temps collectif.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55279" y="1737360"/>
            <a:ext cx="365760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B9CD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600">
                <a:solidFill>
                  <a:srgbClr val="14214B"/>
                </a:solidFill>
              </a:defRPr>
            </a:pPr>
            <a:r>
              <a:t>Questions élèves</a:t>
            </a:r>
          </a:p>
          <a:p>
            <a:pPr>
              <a:defRPr sz="1300">
                <a:solidFill>
                  <a:srgbClr val="1E1E1E"/>
                </a:solidFill>
              </a:defRPr>
            </a:pPr>
            <a:r>
              <a:t>• Corrige tes réponses.</a:t>
            </a:r>
          </a:p>
          <a:p>
            <a:pPr>
              <a:defRPr sz="1300">
                <a:solidFill>
                  <a:srgbClr val="1E1E1E"/>
                </a:solidFill>
              </a:defRPr>
            </a:pPr>
            <a:r>
              <a:t>• Ajoute un exemple précis.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421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972800" y="91440"/>
            <a:ext cx="1005840" cy="1005840"/>
          </a:xfrm>
          <a:prstGeom prst="ellipse">
            <a:avLst/>
          </a:prstGeom>
          <a:solidFill>
            <a:srgbClr val="F4C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600"/>
            </a:pPr>
            <a:r>
              <a:t>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8016"/>
            <a:ext cx="10241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</a:defRPr>
            </a:pPr>
            <a:r>
              <a:t>7. Télétravail - Co-construction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960120"/>
            <a:ext cx="11064240" cy="594360"/>
          </a:xfrm>
          <a:prstGeom prst="roundRect">
            <a:avLst/>
          </a:prstGeom>
          <a:solidFill>
            <a:srgbClr val="FFFFFF"/>
          </a:solidFill>
          <a:ln>
            <a:solidFill>
              <a:srgbClr val="2B6E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2B6EB6"/>
                </a:solidFill>
              </a:defRPr>
            </a:pPr>
            <a:r>
              <a:t>Objectif : Trouver les conditions de réussite.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37360"/>
            <a:ext cx="722376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B9CD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600">
                <a:solidFill>
                  <a:srgbClr val="14214B"/>
                </a:solidFill>
              </a:defRPr>
            </a:pPr>
            <a:r>
              <a:t>Cas Disney</a:t>
            </a:r>
          </a:p>
          <a:p>
            <a:pPr>
              <a:defRPr sz="1300">
                <a:solidFill>
                  <a:srgbClr val="1E1E1E"/>
                </a:solidFill>
              </a:defRPr>
            </a:pPr>
            <a:r>
              <a:t>• Quels métiers peuvent télétravailler facilement?</a:t>
            </a:r>
          </a:p>
          <a:p>
            <a:pPr>
              <a:defRPr sz="1300">
                <a:solidFill>
                  <a:srgbClr val="1E1E1E"/>
                </a:solidFill>
              </a:defRPr>
            </a:pPr>
            <a:r>
              <a:t>• Quelles règles sont indispensables?</a:t>
            </a:r>
          </a:p>
          <a:p>
            <a:pPr>
              <a:defRPr sz="1300">
                <a:solidFill>
                  <a:srgbClr val="1E1E1E"/>
                </a:solidFill>
              </a:defRPr>
            </a:pPr>
            <a:r>
              <a:t>• Comment garder une équipe soudée?</a:t>
            </a:r>
          </a:p>
          <a:p>
            <a:pPr>
              <a:defRPr sz="1300">
                <a:solidFill>
                  <a:srgbClr val="1E1E1E"/>
                </a:solidFill>
              </a:defRPr>
            </a:pPr>
            <a:r>
              <a:t>• Quels indicateurs suivre?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55279" y="1737360"/>
            <a:ext cx="365760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B9CD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600">
                <a:solidFill>
                  <a:srgbClr val="14214B"/>
                </a:solidFill>
              </a:defRPr>
            </a:pPr>
            <a:r>
              <a:t>Questions élèves</a:t>
            </a:r>
          </a:p>
          <a:p>
            <a:pPr>
              <a:defRPr sz="1300">
                <a:solidFill>
                  <a:srgbClr val="1E1E1E"/>
                </a:solidFill>
              </a:defRPr>
            </a:pPr>
            <a:r>
              <a:t>• Complète: 'Le télétravail marche si...'.</a:t>
            </a:r>
          </a:p>
          <a:p>
            <a:pPr>
              <a:defRPr sz="1300">
                <a:solidFill>
                  <a:srgbClr val="1E1E1E"/>
                </a:solidFill>
              </a:defRPr>
            </a:pPr>
            <a:r>
              <a:t>• Propose 4 règles d'équipe.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421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972800" y="91440"/>
            <a:ext cx="1005840" cy="1005840"/>
          </a:xfrm>
          <a:prstGeom prst="ellipse">
            <a:avLst/>
          </a:prstGeom>
          <a:solidFill>
            <a:srgbClr val="F4C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600"/>
            </a:pPr>
            <a:r>
              <a:t>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8016"/>
            <a:ext cx="10241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</a:defRPr>
            </a:pPr>
            <a:r>
              <a:t>8. Télétravail - Synthèse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960120"/>
            <a:ext cx="11064240" cy="594360"/>
          </a:xfrm>
          <a:prstGeom prst="roundRect">
            <a:avLst/>
          </a:prstGeom>
          <a:solidFill>
            <a:srgbClr val="FFFFFF"/>
          </a:solidFill>
          <a:ln>
            <a:solidFill>
              <a:srgbClr val="2B6E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2B6EB6"/>
                </a:solidFill>
              </a:defRPr>
            </a:pPr>
            <a:r>
              <a:t>Objectif : Retenir l'essentiel.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37360"/>
            <a:ext cx="722376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B9CD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600">
                <a:solidFill>
                  <a:srgbClr val="14214B"/>
                </a:solidFill>
              </a:defRPr>
            </a:pPr>
            <a:r>
              <a:t>Cas Disney</a:t>
            </a:r>
          </a:p>
          <a:p>
            <a:pPr>
              <a:defRPr sz="1300">
                <a:solidFill>
                  <a:srgbClr val="1E1E1E"/>
                </a:solidFill>
              </a:defRPr>
            </a:pPr>
            <a:r>
              <a:t>• Définition: travail à distance avec outils numériques.</a:t>
            </a:r>
          </a:p>
          <a:p>
            <a:pPr>
              <a:defRPr sz="1300">
                <a:solidFill>
                  <a:srgbClr val="1E1E1E"/>
                </a:solidFill>
              </a:defRPr>
            </a:pPr>
            <a:r>
              <a:t>• Le modèle hybride est souvent le plus adapté.</a:t>
            </a:r>
          </a:p>
          <a:p>
            <a:pPr>
              <a:defRPr sz="1300">
                <a:solidFill>
                  <a:srgbClr val="1E1E1E"/>
                </a:solidFill>
              </a:defRPr>
            </a:pPr>
            <a:r>
              <a:t>• Conditions: objectifs clairs, communication, confiance.</a:t>
            </a:r>
          </a:p>
          <a:p>
            <a:pPr>
              <a:defRPr sz="1300">
                <a:solidFill>
                  <a:srgbClr val="1E1E1E"/>
                </a:solidFill>
              </a:defRPr>
            </a:pPr>
            <a:r>
              <a:t>• Le télétravail transforme l'organisation du travail.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55279" y="1737360"/>
            <a:ext cx="365760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B9CD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600">
                <a:solidFill>
                  <a:srgbClr val="14214B"/>
                </a:solidFill>
              </a:defRPr>
            </a:pPr>
            <a:r>
              <a:t>Questions élèves</a:t>
            </a:r>
          </a:p>
          <a:p>
            <a:pPr>
              <a:defRPr sz="1300">
                <a:solidFill>
                  <a:srgbClr val="1E1E1E"/>
                </a:solidFill>
              </a:defRPr>
            </a:pPr>
            <a:r>
              <a:t>• Retiens la définition.</a:t>
            </a:r>
          </a:p>
          <a:p>
            <a:pPr>
              <a:defRPr sz="1300">
                <a:solidFill>
                  <a:srgbClr val="1E1E1E"/>
                </a:solidFill>
              </a:defRPr>
            </a:pPr>
            <a:r>
              <a:t>• Note 3 conditions de réussite.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421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972800" y="91440"/>
            <a:ext cx="1005840" cy="1005840"/>
          </a:xfrm>
          <a:prstGeom prst="ellipse">
            <a:avLst/>
          </a:prstGeom>
          <a:solidFill>
            <a:srgbClr val="F4C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600"/>
            </a:pPr>
            <a:r>
              <a:t>🛍️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8016"/>
            <a:ext cx="10241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</a:defRPr>
            </a:pPr>
            <a:r>
              <a:t>9. Modes de consommation - Découverte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960120"/>
            <a:ext cx="11064240" cy="594360"/>
          </a:xfrm>
          <a:prstGeom prst="roundRect">
            <a:avLst/>
          </a:prstGeom>
          <a:solidFill>
            <a:srgbClr val="FFFFFF"/>
          </a:solidFill>
          <a:ln>
            <a:solidFill>
              <a:srgbClr val="2B6E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2B6EB6"/>
                </a:solidFill>
              </a:defRPr>
            </a:pPr>
            <a:r>
              <a:t>Objectif : Identifier les nouveaux comportements d'achat.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37360"/>
            <a:ext cx="722376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B9CD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600">
                <a:solidFill>
                  <a:srgbClr val="14214B"/>
                </a:solidFill>
              </a:defRPr>
            </a:pPr>
            <a:r>
              <a:t>Cas Disney</a:t>
            </a:r>
          </a:p>
          <a:p>
            <a:pPr>
              <a:defRPr sz="1300">
                <a:solidFill>
                  <a:srgbClr val="1E1E1E"/>
                </a:solidFill>
              </a:defRPr>
            </a:pPr>
            <a:r>
              <a:t>• Organisation: Boutique royale d'Arendelle (Frozen).</a:t>
            </a:r>
          </a:p>
          <a:p>
            <a:pPr>
              <a:defRPr sz="1300">
                <a:solidFill>
                  <a:srgbClr val="1E1E1E"/>
                </a:solidFill>
              </a:defRPr>
            </a:pPr>
            <a:r>
              <a:t>• Anna lance une application pour vendre en ligne.</a:t>
            </a:r>
          </a:p>
          <a:p>
            <a:pPr>
              <a:defRPr sz="1300">
                <a:solidFill>
                  <a:srgbClr val="1E1E1E"/>
                </a:solidFill>
              </a:defRPr>
            </a:pPr>
            <a:r>
              <a:t>• Elsa remarque que les clients lisent les avis avant achat.</a:t>
            </a:r>
          </a:p>
          <a:p>
            <a:pPr>
              <a:defRPr sz="1300">
                <a:solidFill>
                  <a:srgbClr val="1E1E1E"/>
                </a:solidFill>
              </a:defRPr>
            </a:pPr>
            <a:r>
              <a:t>• Olaf anime des ventes en direct sur les réseaux.</a:t>
            </a:r>
          </a:p>
          <a:p>
            <a:pPr>
              <a:defRPr sz="1300">
                <a:solidFill>
                  <a:srgbClr val="1E1E1E"/>
                </a:solidFill>
              </a:defRPr>
            </a:pPr>
            <a:r>
              <a:t>• Les clients veulent des produits personnalisés et rapides.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55279" y="1737360"/>
            <a:ext cx="365760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B9CD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600">
                <a:solidFill>
                  <a:srgbClr val="14214B"/>
                </a:solidFill>
              </a:defRPr>
            </a:pPr>
            <a:r>
              <a:t>Questions élèves</a:t>
            </a:r>
          </a:p>
          <a:p>
            <a:pPr>
              <a:defRPr sz="1300">
                <a:solidFill>
                  <a:srgbClr val="1E1E1E"/>
                </a:solidFill>
              </a:defRPr>
            </a:pPr>
            <a:r>
              <a:t>• 1) Quelles nouvelles habitudes observes-tu?</a:t>
            </a:r>
          </a:p>
          <a:p>
            <a:pPr>
              <a:defRPr sz="1300">
                <a:solidFill>
                  <a:srgbClr val="1E1E1E"/>
                </a:solidFill>
              </a:defRPr>
            </a:pPr>
            <a:r>
              <a:t>• 2) Pourquoi le numérique est important?</a:t>
            </a:r>
          </a:p>
          <a:p>
            <a:pPr>
              <a:defRPr sz="1300">
                <a:solidFill>
                  <a:srgbClr val="1E1E1E"/>
                </a:solidFill>
              </a:defRPr>
            </a:pPr>
            <a:r>
              <a:t>• 3) Quels changements pour la boutique?</a:t>
            </a:r>
          </a:p>
          <a:p>
            <a:pPr>
              <a:defRPr sz="1300">
                <a:solidFill>
                  <a:srgbClr val="1E1E1E"/>
                </a:solidFill>
              </a:defRPr>
            </a:pPr>
            <a:r>
              <a:t>• 4) Quels risques si elle ne s'adapte pas?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421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972800" y="91440"/>
            <a:ext cx="1005840" cy="1005840"/>
          </a:xfrm>
          <a:prstGeom prst="ellipse">
            <a:avLst/>
          </a:prstGeom>
          <a:solidFill>
            <a:srgbClr val="F4C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600"/>
            </a:pPr>
            <a:r>
              <a:t>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8016"/>
            <a:ext cx="10241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</a:defRPr>
            </a:pPr>
            <a:r>
              <a:t>10. Modes de consommation - Correction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960120"/>
            <a:ext cx="11064240" cy="594360"/>
          </a:xfrm>
          <a:prstGeom prst="roundRect">
            <a:avLst/>
          </a:prstGeom>
          <a:solidFill>
            <a:srgbClr val="FFFFFF"/>
          </a:solidFill>
          <a:ln>
            <a:solidFill>
              <a:srgbClr val="2B6E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2B6EB6"/>
                </a:solidFill>
              </a:defRPr>
            </a:pPr>
            <a:r>
              <a:t>Objectif : Valider l'analyse.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37360"/>
            <a:ext cx="722376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B9CD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600">
                <a:solidFill>
                  <a:srgbClr val="14214B"/>
                </a:solidFill>
              </a:defRPr>
            </a:pPr>
            <a:r>
              <a:t>Cas Disney</a:t>
            </a:r>
          </a:p>
          <a:p>
            <a:pPr>
              <a:defRPr sz="1300">
                <a:solidFill>
                  <a:srgbClr val="1E1E1E"/>
                </a:solidFill>
              </a:defRPr>
            </a:pPr>
            <a:r>
              <a:t>• Habitudes: achat en ligne, avis clients, personnalisation, rapidité.</a:t>
            </a:r>
          </a:p>
          <a:p>
            <a:pPr>
              <a:defRPr sz="1300">
                <a:solidFill>
                  <a:srgbClr val="1E1E1E"/>
                </a:solidFill>
              </a:defRPr>
            </a:pPr>
            <a:r>
              <a:t>• Le numérique influence fortement la décision d'achat.</a:t>
            </a:r>
          </a:p>
          <a:p>
            <a:pPr>
              <a:defRPr sz="1300">
                <a:solidFill>
                  <a:srgbClr val="1E1E1E"/>
                </a:solidFill>
              </a:defRPr>
            </a:pPr>
            <a:r>
              <a:t>• L'organisation doit adapter offre, service client et logistique.</a:t>
            </a:r>
          </a:p>
          <a:p>
            <a:pPr>
              <a:defRPr sz="1300">
                <a:solidFill>
                  <a:srgbClr val="1E1E1E"/>
                </a:solidFill>
              </a:defRPr>
            </a:pPr>
            <a:r>
              <a:t>• Sinon: perte de clients et baisse des ventes.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55279" y="1737360"/>
            <a:ext cx="365760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B9CD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600">
                <a:solidFill>
                  <a:srgbClr val="14214B"/>
                </a:solidFill>
              </a:defRPr>
            </a:pPr>
            <a:r>
              <a:t>Questions élèves</a:t>
            </a:r>
          </a:p>
          <a:p>
            <a:pPr>
              <a:defRPr sz="1300">
                <a:solidFill>
                  <a:srgbClr val="1E1E1E"/>
                </a:solidFill>
              </a:defRPr>
            </a:pPr>
            <a:r>
              <a:t>• Vérifie ta réponse.</a:t>
            </a:r>
          </a:p>
          <a:p>
            <a:pPr>
              <a:defRPr sz="1300">
                <a:solidFill>
                  <a:srgbClr val="1E1E1E"/>
                </a:solidFill>
              </a:defRPr>
            </a:pPr>
            <a:r>
              <a:t>• Recopie 3 idées importantes.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421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972800" y="91440"/>
            <a:ext cx="1005840" cy="1005840"/>
          </a:xfrm>
          <a:prstGeom prst="ellipse">
            <a:avLst/>
          </a:prstGeom>
          <a:solidFill>
            <a:srgbClr val="F4C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600"/>
            </a:pPr>
            <a:r>
              <a:t>🔎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8016"/>
            <a:ext cx="10241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</a:defRPr>
            </a:pPr>
            <a:r>
              <a:t>11. Modes de consommation - Co-construction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960120"/>
            <a:ext cx="11064240" cy="594360"/>
          </a:xfrm>
          <a:prstGeom prst="roundRect">
            <a:avLst/>
          </a:prstGeom>
          <a:solidFill>
            <a:srgbClr val="FFFFFF"/>
          </a:solidFill>
          <a:ln>
            <a:solidFill>
              <a:srgbClr val="2B6E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2B6EB6"/>
                </a:solidFill>
              </a:defRPr>
            </a:pPr>
            <a:r>
              <a:t>Objectif : Construire la définition.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37360"/>
            <a:ext cx="722376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B9CD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600">
                <a:solidFill>
                  <a:srgbClr val="14214B"/>
                </a:solidFill>
              </a:defRPr>
            </a:pPr>
            <a:r>
              <a:t>Cas Disney</a:t>
            </a:r>
          </a:p>
          <a:p>
            <a:pPr>
              <a:defRPr sz="1300">
                <a:solidFill>
                  <a:srgbClr val="1E1E1E"/>
                </a:solidFill>
              </a:defRPr>
            </a:pPr>
            <a:r>
              <a:t>• Pourquoi les clients achètent différemment?</a:t>
            </a:r>
          </a:p>
          <a:p>
            <a:pPr>
              <a:defRPr sz="1300">
                <a:solidFill>
                  <a:srgbClr val="1E1E1E"/>
                </a:solidFill>
              </a:defRPr>
            </a:pPr>
            <a:r>
              <a:t>• Pourquoi les avis en ligne comptent-ils autant?</a:t>
            </a:r>
          </a:p>
          <a:p>
            <a:pPr>
              <a:defRPr sz="1300">
                <a:solidFill>
                  <a:srgbClr val="1E1E1E"/>
                </a:solidFill>
              </a:defRPr>
            </a:pPr>
            <a:r>
              <a:t>• Comment une organisation reste attractive?</a:t>
            </a:r>
          </a:p>
          <a:p>
            <a:pPr>
              <a:defRPr sz="1300">
                <a:solidFill>
                  <a:srgbClr val="1E1E1E"/>
                </a:solidFill>
              </a:defRPr>
            </a:pPr>
            <a:r>
              <a:t>• Donne des exemples de ton quotidien.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55279" y="1737360"/>
            <a:ext cx="365760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B9CD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600">
                <a:solidFill>
                  <a:srgbClr val="14214B"/>
                </a:solidFill>
              </a:defRPr>
            </a:pPr>
            <a:r>
              <a:t>Questions élèves</a:t>
            </a:r>
          </a:p>
          <a:p>
            <a:pPr>
              <a:defRPr sz="1300">
                <a:solidFill>
                  <a:srgbClr val="1E1E1E"/>
                </a:solidFill>
              </a:defRPr>
            </a:pPr>
            <a:r>
              <a:t>• Définition en groupe (1 phrase).</a:t>
            </a:r>
          </a:p>
          <a:p>
            <a:pPr>
              <a:defRPr sz="1300">
                <a:solidFill>
                  <a:srgbClr val="1E1E1E"/>
                </a:solidFill>
              </a:defRPr>
            </a:pPr>
            <a:r>
              <a:t>• Donne 3 exemples concrets.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421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972800" y="91440"/>
            <a:ext cx="1005840" cy="1005840"/>
          </a:xfrm>
          <a:prstGeom prst="ellipse">
            <a:avLst/>
          </a:prstGeom>
          <a:solidFill>
            <a:srgbClr val="F4C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600"/>
            </a:pPr>
            <a:r>
              <a:t>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8016"/>
            <a:ext cx="10241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</a:defRPr>
            </a:pPr>
            <a:r>
              <a:t>12. Modes de consommation - Synthèse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960120"/>
            <a:ext cx="11064240" cy="594360"/>
          </a:xfrm>
          <a:prstGeom prst="roundRect">
            <a:avLst/>
          </a:prstGeom>
          <a:solidFill>
            <a:srgbClr val="FFFFFF"/>
          </a:solidFill>
          <a:ln>
            <a:solidFill>
              <a:srgbClr val="2B6E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2B6EB6"/>
                </a:solidFill>
              </a:defRPr>
            </a:pPr>
            <a:r>
              <a:t>Objectif : Fixer les idées-clés.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37360"/>
            <a:ext cx="722376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B9CD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600">
                <a:solidFill>
                  <a:srgbClr val="14214B"/>
                </a:solidFill>
              </a:defRPr>
            </a:pPr>
            <a:r>
              <a:t>Cas Disney</a:t>
            </a:r>
          </a:p>
          <a:p>
            <a:pPr>
              <a:defRPr sz="1300">
                <a:solidFill>
                  <a:srgbClr val="1E1E1E"/>
                </a:solidFill>
              </a:defRPr>
            </a:pPr>
            <a:r>
              <a:t>• Définition: manière d'acheter et d'utiliser un bien ou service.</a:t>
            </a:r>
          </a:p>
          <a:p>
            <a:pPr>
              <a:defRPr sz="1300">
                <a:solidFill>
                  <a:srgbClr val="1E1E1E"/>
                </a:solidFill>
              </a:defRPr>
            </a:pPr>
            <a:r>
              <a:t>• Aujourd'hui: consommation connectée, rapide, personnalisée.</a:t>
            </a:r>
          </a:p>
          <a:p>
            <a:pPr>
              <a:defRPr sz="1300">
                <a:solidFill>
                  <a:srgbClr val="1E1E1E"/>
                </a:solidFill>
              </a:defRPr>
            </a:pPr>
            <a:r>
              <a:t>• Conséquence: les organisations doivent innover en continu.</a:t>
            </a:r>
          </a:p>
          <a:p>
            <a:pPr>
              <a:defRPr sz="1300">
                <a:solidFill>
                  <a:srgbClr val="1E1E1E"/>
                </a:solidFill>
              </a:defRPr>
            </a:pPr>
            <a:r>
              <a:t>• Le client est plus actif et plus exigeant.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55279" y="1737360"/>
            <a:ext cx="365760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B9CD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600">
                <a:solidFill>
                  <a:srgbClr val="14214B"/>
                </a:solidFill>
              </a:defRPr>
            </a:pPr>
            <a:r>
              <a:t>Questions élèves</a:t>
            </a:r>
          </a:p>
          <a:p>
            <a:pPr>
              <a:defRPr sz="1300">
                <a:solidFill>
                  <a:srgbClr val="1E1E1E"/>
                </a:solidFill>
              </a:defRPr>
            </a:pPr>
            <a:r>
              <a:t>• Retiens 4 mots-clés.</a:t>
            </a:r>
          </a:p>
          <a:p>
            <a:pPr>
              <a:defRPr sz="1300">
                <a:solidFill>
                  <a:srgbClr val="1E1E1E"/>
                </a:solidFill>
              </a:defRPr>
            </a:pPr>
            <a:r>
              <a:t>• Rédige une phrase bilan.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421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972800" y="91440"/>
            <a:ext cx="1005840" cy="1005840"/>
          </a:xfrm>
          <a:prstGeom prst="ellipse">
            <a:avLst/>
          </a:prstGeom>
          <a:solidFill>
            <a:srgbClr val="F4C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600"/>
            </a:pPr>
            <a:r>
              <a:t>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8016"/>
            <a:ext cx="10241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</a:defRPr>
            </a:pPr>
            <a:r>
              <a:t>13. Économie collaborative - Découverte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960120"/>
            <a:ext cx="11064240" cy="594360"/>
          </a:xfrm>
          <a:prstGeom prst="roundRect">
            <a:avLst/>
          </a:prstGeom>
          <a:solidFill>
            <a:srgbClr val="FFFFFF"/>
          </a:solidFill>
          <a:ln>
            <a:solidFill>
              <a:srgbClr val="2B6E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2B6EB6"/>
                </a:solidFill>
              </a:defRPr>
            </a:pPr>
            <a:r>
              <a:t>Objectif : Comprendre la logique de partage.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37360"/>
            <a:ext cx="722376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B9CD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600">
                <a:solidFill>
                  <a:srgbClr val="14214B"/>
                </a:solidFill>
              </a:defRPr>
            </a:pPr>
            <a:r>
              <a:t>Cas Disney</a:t>
            </a:r>
          </a:p>
          <a:p>
            <a:pPr>
              <a:defRPr sz="1300">
                <a:solidFill>
                  <a:srgbClr val="1E1E1E"/>
                </a:solidFill>
              </a:defRPr>
            </a:pPr>
            <a:r>
              <a:t>• Organisation: Atelier de Rémy (Ratatouille), avec plateforme de prêt d'ustensiles.</a:t>
            </a:r>
          </a:p>
          <a:p>
            <a:pPr>
              <a:defRPr sz="1300">
                <a:solidFill>
                  <a:srgbClr val="1E1E1E"/>
                </a:solidFill>
              </a:defRPr>
            </a:pPr>
            <a:r>
              <a:t>• Les jeunes cuisiniers peuvent louer du matériel au lieu d'acheter.</a:t>
            </a:r>
          </a:p>
          <a:p>
            <a:pPr>
              <a:defRPr sz="1300">
                <a:solidFill>
                  <a:srgbClr val="1E1E1E"/>
                </a:solidFill>
              </a:defRPr>
            </a:pPr>
            <a:r>
              <a:t>• Linguini gère les réservations via application.</a:t>
            </a:r>
          </a:p>
          <a:p>
            <a:pPr>
              <a:defRPr sz="1300">
                <a:solidFill>
                  <a:srgbClr val="1E1E1E"/>
                </a:solidFill>
              </a:defRPr>
            </a:pPr>
            <a:r>
              <a:t>• Colette surveille les avis et la qualité du matériel.</a:t>
            </a:r>
          </a:p>
          <a:p>
            <a:pPr>
              <a:defRPr sz="1300">
                <a:solidFill>
                  <a:srgbClr val="1E1E1E"/>
                </a:solidFill>
              </a:defRPr>
            </a:pPr>
            <a:r>
              <a:t>• Le système marche, mais des litiges apparaissent.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55279" y="1737360"/>
            <a:ext cx="365760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B9CD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600">
                <a:solidFill>
                  <a:srgbClr val="14214B"/>
                </a:solidFill>
              </a:defRPr>
            </a:pPr>
            <a:r>
              <a:t>Questions élèves</a:t>
            </a:r>
          </a:p>
          <a:p>
            <a:pPr>
              <a:defRPr sz="1300">
                <a:solidFill>
                  <a:srgbClr val="1E1E1E"/>
                </a:solidFill>
              </a:defRPr>
            </a:pPr>
            <a:r>
              <a:t>• 1) Pourquoi c'est de l'économie collaborative?</a:t>
            </a:r>
          </a:p>
          <a:p>
            <a:pPr>
              <a:defRPr sz="1300">
                <a:solidFill>
                  <a:srgbClr val="1E1E1E"/>
                </a:solidFill>
              </a:defRPr>
            </a:pPr>
            <a:r>
              <a:t>• 2) Quel rôle joue la plateforme?</a:t>
            </a:r>
          </a:p>
          <a:p>
            <a:pPr>
              <a:defRPr sz="1300">
                <a:solidFill>
                  <a:srgbClr val="1E1E1E"/>
                </a:solidFill>
              </a:defRPr>
            </a:pPr>
            <a:r>
              <a:t>• 3) Donne 2 avantages.</a:t>
            </a:r>
          </a:p>
          <a:p>
            <a:pPr>
              <a:defRPr sz="1300">
                <a:solidFill>
                  <a:srgbClr val="1E1E1E"/>
                </a:solidFill>
              </a:defRPr>
            </a:pPr>
            <a:r>
              <a:t>• 4) Donne 2 limites.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421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972800" y="91440"/>
            <a:ext cx="1005840" cy="1005840"/>
          </a:xfrm>
          <a:prstGeom prst="ellipse">
            <a:avLst/>
          </a:prstGeom>
          <a:solidFill>
            <a:srgbClr val="F4C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600"/>
            </a:pPr>
            <a:r>
              <a:t>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8016"/>
            <a:ext cx="10241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</a:defRPr>
            </a:pPr>
            <a:r>
              <a:t>14. Économie collaborative - Correction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960120"/>
            <a:ext cx="11064240" cy="594360"/>
          </a:xfrm>
          <a:prstGeom prst="roundRect">
            <a:avLst/>
          </a:prstGeom>
          <a:solidFill>
            <a:srgbClr val="FFFFFF"/>
          </a:solidFill>
          <a:ln>
            <a:solidFill>
              <a:srgbClr val="2B6E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2B6EB6"/>
                </a:solidFill>
              </a:defRPr>
            </a:pPr>
            <a:r>
              <a:t>Objectif : Identifier les caractéristiques.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37360"/>
            <a:ext cx="722376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B9CD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600">
                <a:solidFill>
                  <a:srgbClr val="14214B"/>
                </a:solidFill>
              </a:defRPr>
            </a:pPr>
            <a:r>
              <a:t>Cas Disney</a:t>
            </a:r>
          </a:p>
          <a:p>
            <a:pPr>
              <a:defRPr sz="1300">
                <a:solidFill>
                  <a:srgbClr val="1E1E1E"/>
                </a:solidFill>
              </a:defRPr>
            </a:pPr>
            <a:r>
              <a:t>• Collaboratif = partage/échange entre utilisateurs via plateforme.</a:t>
            </a:r>
          </a:p>
          <a:p>
            <a:pPr>
              <a:defRPr sz="1300">
                <a:solidFill>
                  <a:srgbClr val="1E1E1E"/>
                </a:solidFill>
              </a:defRPr>
            </a:pPr>
            <a:r>
              <a:t>• Avantages: coût réduit, accès facilité, meilleur usage des ressources.</a:t>
            </a:r>
          </a:p>
          <a:p>
            <a:pPr>
              <a:defRPr sz="1300">
                <a:solidFill>
                  <a:srgbClr val="1E1E1E"/>
                </a:solidFill>
              </a:defRPr>
            </a:pPr>
            <a:r>
              <a:t>• Limites: qualité variable, litiges, besoin de règles claires.</a:t>
            </a:r>
          </a:p>
          <a:p>
            <a:pPr>
              <a:defRPr sz="1300">
                <a:solidFill>
                  <a:srgbClr val="1E1E1E"/>
                </a:solidFill>
              </a:defRPr>
            </a:pPr>
            <a:r>
              <a:t>• La confiance est centrale (avis, notation, garanties).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55279" y="1737360"/>
            <a:ext cx="365760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B9CD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600">
                <a:solidFill>
                  <a:srgbClr val="14214B"/>
                </a:solidFill>
              </a:defRPr>
            </a:pPr>
            <a:r>
              <a:t>Questions élèves</a:t>
            </a:r>
          </a:p>
          <a:p>
            <a:pPr>
              <a:defRPr sz="1300">
                <a:solidFill>
                  <a:srgbClr val="1E1E1E"/>
                </a:solidFill>
              </a:defRPr>
            </a:pPr>
            <a:r>
              <a:t>• Corrige tes réponses.</a:t>
            </a:r>
          </a:p>
          <a:p>
            <a:pPr>
              <a:defRPr sz="1300">
                <a:solidFill>
                  <a:srgbClr val="1E1E1E"/>
                </a:solidFill>
              </a:defRPr>
            </a:pPr>
            <a:r>
              <a:t>• Retiens les 4 mots-clés.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421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972800" y="91440"/>
            <a:ext cx="1005840" cy="1005840"/>
          </a:xfrm>
          <a:prstGeom prst="ellipse">
            <a:avLst/>
          </a:prstGeom>
          <a:solidFill>
            <a:srgbClr val="F4C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600"/>
            </a:pPr>
            <a:r>
              <a:t>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8016"/>
            <a:ext cx="10241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</a:defRPr>
            </a:pPr>
            <a:r>
              <a:t>15. Économie collaborative - Co-construction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960120"/>
            <a:ext cx="11064240" cy="594360"/>
          </a:xfrm>
          <a:prstGeom prst="roundRect">
            <a:avLst/>
          </a:prstGeom>
          <a:solidFill>
            <a:srgbClr val="FFFFFF"/>
          </a:solidFill>
          <a:ln>
            <a:solidFill>
              <a:srgbClr val="2B6E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2B6EB6"/>
                </a:solidFill>
              </a:defRPr>
            </a:pPr>
            <a:r>
              <a:t>Objectif : Formuler la notion précisément.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37360"/>
            <a:ext cx="722376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B9CD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600">
                <a:solidFill>
                  <a:srgbClr val="14214B"/>
                </a:solidFill>
              </a:defRPr>
            </a:pPr>
            <a:r>
              <a:t>Cas Disney</a:t>
            </a:r>
          </a:p>
          <a:p>
            <a:pPr>
              <a:defRPr sz="1300">
                <a:solidFill>
                  <a:srgbClr val="1E1E1E"/>
                </a:solidFill>
              </a:defRPr>
            </a:pPr>
            <a:r>
              <a:t>• Qu'est-ce qui change par rapport au commerce classique?</a:t>
            </a:r>
          </a:p>
          <a:p>
            <a:pPr>
              <a:defRPr sz="1300">
                <a:solidFill>
                  <a:srgbClr val="1E1E1E"/>
                </a:solidFill>
              </a:defRPr>
            </a:pPr>
            <a:r>
              <a:t>• Pourquoi les avis sont essentiels?</a:t>
            </a:r>
          </a:p>
          <a:p>
            <a:pPr>
              <a:defRPr sz="1300">
                <a:solidFill>
                  <a:srgbClr val="1E1E1E"/>
                </a:solidFill>
              </a:defRPr>
            </a:pPr>
            <a:r>
              <a:t>• Comment sécuriser les échanges?</a:t>
            </a:r>
          </a:p>
          <a:p>
            <a:pPr>
              <a:defRPr sz="1300">
                <a:solidFill>
                  <a:srgbClr val="1E1E1E"/>
                </a:solidFill>
              </a:defRPr>
            </a:pPr>
            <a:r>
              <a:t>• Quelle règle est prioritaire?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55279" y="1737360"/>
            <a:ext cx="365760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B9CD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600">
                <a:solidFill>
                  <a:srgbClr val="14214B"/>
                </a:solidFill>
              </a:defRPr>
            </a:pPr>
            <a:r>
              <a:t>Questions élèves</a:t>
            </a:r>
          </a:p>
          <a:p>
            <a:pPr>
              <a:defRPr sz="1300">
                <a:solidFill>
                  <a:srgbClr val="1E1E1E"/>
                </a:solidFill>
              </a:defRPr>
            </a:pPr>
            <a:r>
              <a:t>• Écris une définition en 2 lignes.</a:t>
            </a:r>
          </a:p>
          <a:p>
            <a:pPr>
              <a:defRPr sz="1300">
                <a:solidFill>
                  <a:srgbClr val="1E1E1E"/>
                </a:solidFill>
              </a:defRPr>
            </a:pPr>
            <a:r>
              <a:t>• Propose 2 règles de sécurité.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421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972800" y="91440"/>
            <a:ext cx="1005840" cy="1005840"/>
          </a:xfrm>
          <a:prstGeom prst="ellipse">
            <a:avLst/>
          </a:prstGeom>
          <a:solidFill>
            <a:srgbClr val="F4C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600"/>
            </a:pPr>
            <a:r>
              <a:t>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8016"/>
            <a:ext cx="10241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</a:defRPr>
            </a:pPr>
            <a:r>
              <a:t>16. Économie collaborative - Synthèse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960120"/>
            <a:ext cx="11064240" cy="594360"/>
          </a:xfrm>
          <a:prstGeom prst="roundRect">
            <a:avLst/>
          </a:prstGeom>
          <a:solidFill>
            <a:srgbClr val="FFFFFF"/>
          </a:solidFill>
          <a:ln>
            <a:solidFill>
              <a:srgbClr val="2B6E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2B6EB6"/>
                </a:solidFill>
              </a:defRPr>
            </a:pPr>
            <a:r>
              <a:t>Objectif : Mémoriser l'essentiel.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37360"/>
            <a:ext cx="722376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B9CD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600">
                <a:solidFill>
                  <a:srgbClr val="14214B"/>
                </a:solidFill>
              </a:defRPr>
            </a:pPr>
            <a:r>
              <a:t>Cas Disney</a:t>
            </a:r>
          </a:p>
          <a:p>
            <a:pPr>
              <a:defRPr sz="1300">
                <a:solidFill>
                  <a:srgbClr val="1E1E1E"/>
                </a:solidFill>
              </a:defRPr>
            </a:pPr>
            <a:r>
              <a:t>• Définition: modèle basé sur le partage via une plateforme.</a:t>
            </a:r>
          </a:p>
          <a:p>
            <a:pPr>
              <a:defRPr sz="1300">
                <a:solidFill>
                  <a:srgbClr val="1E1E1E"/>
                </a:solidFill>
              </a:defRPr>
            </a:pPr>
            <a:r>
              <a:t>• Logique: usage plutôt que propriété.</a:t>
            </a:r>
          </a:p>
          <a:p>
            <a:pPr>
              <a:defRPr sz="1300">
                <a:solidFill>
                  <a:srgbClr val="1E1E1E"/>
                </a:solidFill>
              </a:defRPr>
            </a:pPr>
            <a:r>
              <a:t>• Effets: nouveaux services et nouvelles responsabilités.</a:t>
            </a:r>
          </a:p>
          <a:p>
            <a:pPr>
              <a:defRPr sz="1300">
                <a:solidFill>
                  <a:srgbClr val="1E1E1E"/>
                </a:solidFill>
              </a:defRPr>
            </a:pPr>
            <a:r>
              <a:t>• Sans confiance, ce modèle ne fonctionne pas.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55279" y="1737360"/>
            <a:ext cx="365760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B9CD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600">
                <a:solidFill>
                  <a:srgbClr val="14214B"/>
                </a:solidFill>
              </a:defRPr>
            </a:pPr>
            <a:r>
              <a:t>Questions élèves</a:t>
            </a:r>
          </a:p>
          <a:p>
            <a:pPr>
              <a:defRPr sz="1300">
                <a:solidFill>
                  <a:srgbClr val="1E1E1E"/>
                </a:solidFill>
              </a:defRPr>
            </a:pPr>
            <a:r>
              <a:t>• Retiens la définition.</a:t>
            </a:r>
          </a:p>
          <a:p>
            <a:pPr>
              <a:defRPr sz="1300">
                <a:solidFill>
                  <a:srgbClr val="1E1E1E"/>
                </a:solidFill>
              </a:defRPr>
            </a:pPr>
            <a:r>
              <a:t>• Donne un exemple simple.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421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972800" y="91440"/>
            <a:ext cx="1005840" cy="1005840"/>
          </a:xfrm>
          <a:prstGeom prst="ellipse">
            <a:avLst/>
          </a:prstGeom>
          <a:solidFill>
            <a:srgbClr val="F4C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600"/>
            </a:pPr>
            <a:r>
              <a:t>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8016"/>
            <a:ext cx="10241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</a:defRPr>
            </a:pPr>
            <a:r>
              <a:t>17. Consommation responsable - Découverte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960120"/>
            <a:ext cx="11064240" cy="594360"/>
          </a:xfrm>
          <a:prstGeom prst="roundRect">
            <a:avLst/>
          </a:prstGeom>
          <a:solidFill>
            <a:srgbClr val="FFFFFF"/>
          </a:solidFill>
          <a:ln>
            <a:solidFill>
              <a:srgbClr val="2B6E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2B6EB6"/>
                </a:solidFill>
              </a:defRPr>
            </a:pPr>
            <a:r>
              <a:t>Objectif : Comprendre la consommation responsable.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37360"/>
            <a:ext cx="722376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B9CD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600">
                <a:solidFill>
                  <a:srgbClr val="14214B"/>
                </a:solidFill>
              </a:defRPr>
            </a:pPr>
            <a:r>
              <a:t>Cas Disney</a:t>
            </a:r>
          </a:p>
          <a:p>
            <a:pPr>
              <a:defRPr sz="1300">
                <a:solidFill>
                  <a:srgbClr val="1E1E1E"/>
                </a:solidFill>
              </a:defRPr>
            </a:pPr>
            <a:r>
              <a:t>• Organisation: Royaume d'Arendelle avec marché 'Nord Vert'.</a:t>
            </a:r>
          </a:p>
          <a:p>
            <a:pPr>
              <a:defRPr sz="1300">
                <a:solidFill>
                  <a:srgbClr val="1E1E1E"/>
                </a:solidFill>
              </a:defRPr>
            </a:pPr>
            <a:r>
              <a:t>• Elsa veut des produits durables et moins d'emballages.</a:t>
            </a:r>
          </a:p>
          <a:p>
            <a:pPr>
              <a:defRPr sz="1300">
                <a:solidFill>
                  <a:srgbClr val="1E1E1E"/>
                </a:solidFill>
              </a:defRPr>
            </a:pPr>
            <a:r>
              <a:t>• Anna constate que certains clients trouvent les prix élevés.</a:t>
            </a:r>
          </a:p>
          <a:p>
            <a:pPr>
              <a:defRPr sz="1300">
                <a:solidFill>
                  <a:srgbClr val="1E1E1E"/>
                </a:solidFill>
              </a:defRPr>
            </a:pPr>
            <a:r>
              <a:t>• Kristoff propose des fournisseurs locaux.</a:t>
            </a:r>
          </a:p>
          <a:p>
            <a:pPr>
              <a:defRPr sz="1300">
                <a:solidFill>
                  <a:srgbClr val="1E1E1E"/>
                </a:solidFill>
              </a:defRPr>
            </a:pPr>
            <a:r>
              <a:t>• Le royaume cherche l'équilibre: planète, prix, qualité.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55279" y="1737360"/>
            <a:ext cx="365760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B9CD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600">
                <a:solidFill>
                  <a:srgbClr val="14214B"/>
                </a:solidFill>
              </a:defRPr>
            </a:pPr>
            <a:r>
              <a:t>Questions élèves</a:t>
            </a:r>
          </a:p>
          <a:p>
            <a:pPr>
              <a:defRPr sz="1300">
                <a:solidFill>
                  <a:srgbClr val="1E1E1E"/>
                </a:solidFill>
              </a:defRPr>
            </a:pPr>
            <a:r>
              <a:t>• 1) Définis la consommation responsable.</a:t>
            </a:r>
          </a:p>
          <a:p>
            <a:pPr>
              <a:defRPr sz="1300">
                <a:solidFill>
                  <a:srgbClr val="1E1E1E"/>
                </a:solidFill>
              </a:defRPr>
            </a:pPr>
            <a:r>
              <a:t>• 2) Quels dilemmes vois-tu?</a:t>
            </a:r>
          </a:p>
          <a:p>
            <a:pPr>
              <a:defRPr sz="1300">
                <a:solidFill>
                  <a:srgbClr val="1E1E1E"/>
                </a:solidFill>
              </a:defRPr>
            </a:pPr>
            <a:r>
              <a:t>• 3) Pourquoi le prix est un frein?</a:t>
            </a:r>
          </a:p>
          <a:p>
            <a:pPr>
              <a:defRPr sz="1300">
                <a:solidFill>
                  <a:srgbClr val="1E1E1E"/>
                </a:solidFill>
              </a:defRPr>
            </a:pPr>
            <a:r>
              <a:t>• 4) Propose 2 solutions réalistes.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421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972800" y="91440"/>
            <a:ext cx="1005840" cy="1005840"/>
          </a:xfrm>
          <a:prstGeom prst="ellipse">
            <a:avLst/>
          </a:prstGeom>
          <a:solidFill>
            <a:srgbClr val="F4C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600"/>
            </a:pPr>
            <a:r>
              <a:t>♻️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8016"/>
            <a:ext cx="10241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</a:defRPr>
            </a:pPr>
            <a:r>
              <a:t>18. Consommation responsable - Correction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960120"/>
            <a:ext cx="11064240" cy="594360"/>
          </a:xfrm>
          <a:prstGeom prst="roundRect">
            <a:avLst/>
          </a:prstGeom>
          <a:solidFill>
            <a:srgbClr val="FFFFFF"/>
          </a:solidFill>
          <a:ln>
            <a:solidFill>
              <a:srgbClr val="2B6E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2B6EB6"/>
                </a:solidFill>
              </a:defRPr>
            </a:pPr>
            <a:r>
              <a:t>Objectif : Valider les enjeux.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37360"/>
            <a:ext cx="722376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B9CD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600">
                <a:solidFill>
                  <a:srgbClr val="14214B"/>
                </a:solidFill>
              </a:defRPr>
            </a:pPr>
            <a:r>
              <a:t>Cas Disney</a:t>
            </a:r>
          </a:p>
          <a:p>
            <a:pPr>
              <a:defRPr sz="1300">
                <a:solidFill>
                  <a:srgbClr val="1E1E1E"/>
                </a:solidFill>
              </a:defRPr>
            </a:pPr>
            <a:r>
              <a:t>• Consommer responsable = tenir compte des impacts écologiques et sociaux.</a:t>
            </a:r>
          </a:p>
          <a:p>
            <a:pPr>
              <a:defRPr sz="1300">
                <a:solidFill>
                  <a:srgbClr val="1E1E1E"/>
                </a:solidFill>
              </a:defRPr>
            </a:pPr>
            <a:r>
              <a:t>• Dilemmes: prix, accessibilité, rentabilité, crédibilité.</a:t>
            </a:r>
          </a:p>
          <a:p>
            <a:pPr>
              <a:defRPr sz="1300">
                <a:solidFill>
                  <a:srgbClr val="1E1E1E"/>
                </a:solidFill>
              </a:defRPr>
            </a:pPr>
            <a:r>
              <a:t>• Solutions: labels, information claire, offre progressive, circuits locaux.</a:t>
            </a:r>
          </a:p>
          <a:p>
            <a:pPr>
              <a:defRPr sz="1300">
                <a:solidFill>
                  <a:srgbClr val="1E1E1E"/>
                </a:solidFill>
              </a:defRPr>
            </a:pPr>
            <a:r>
              <a:t>• Il faut des preuves concrètes pour éviter le greenwashing.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55279" y="1737360"/>
            <a:ext cx="365760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B9CD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600">
                <a:solidFill>
                  <a:srgbClr val="14214B"/>
                </a:solidFill>
              </a:defRPr>
            </a:pPr>
            <a:r>
              <a:t>Questions élèves</a:t>
            </a:r>
          </a:p>
          <a:p>
            <a:pPr>
              <a:defRPr sz="1300">
                <a:solidFill>
                  <a:srgbClr val="1E1E1E"/>
                </a:solidFill>
              </a:defRPr>
            </a:pPr>
            <a:r>
              <a:t>• Corrige ta réponse.</a:t>
            </a:r>
          </a:p>
          <a:p>
            <a:pPr>
              <a:defRPr sz="1300">
                <a:solidFill>
                  <a:srgbClr val="1E1E1E"/>
                </a:solidFill>
              </a:defRPr>
            </a:pPr>
            <a:r>
              <a:t>• Recopie 2 solutions concrètes.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421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972800" y="91440"/>
            <a:ext cx="1005840" cy="1005840"/>
          </a:xfrm>
          <a:prstGeom prst="ellipse">
            <a:avLst/>
          </a:prstGeom>
          <a:solidFill>
            <a:srgbClr val="F4C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600"/>
            </a:pPr>
            <a:r>
              <a:t>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8016"/>
            <a:ext cx="10241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</a:defRPr>
            </a:pPr>
            <a:r>
              <a:t>19. Consommation responsable - Co-construction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960120"/>
            <a:ext cx="11064240" cy="594360"/>
          </a:xfrm>
          <a:prstGeom prst="roundRect">
            <a:avLst/>
          </a:prstGeom>
          <a:solidFill>
            <a:srgbClr val="FFFFFF"/>
          </a:solidFill>
          <a:ln>
            <a:solidFill>
              <a:srgbClr val="2B6E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2B6EB6"/>
                </a:solidFill>
              </a:defRPr>
            </a:pPr>
            <a:r>
              <a:t>Objectif : Construire une définition commune.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37360"/>
            <a:ext cx="722376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B9CD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600">
                <a:solidFill>
                  <a:srgbClr val="14214B"/>
                </a:solidFill>
              </a:defRPr>
            </a:pPr>
            <a:r>
              <a:t>Cas Disney</a:t>
            </a:r>
          </a:p>
          <a:p>
            <a:pPr>
              <a:defRPr sz="1300">
                <a:solidFill>
                  <a:srgbClr val="1E1E1E"/>
                </a:solidFill>
              </a:defRPr>
            </a:pPr>
            <a:r>
              <a:t>• Pourquoi cette consommation progresse?</a:t>
            </a:r>
          </a:p>
          <a:p>
            <a:pPr>
              <a:defRPr sz="1300">
                <a:solidFill>
                  <a:srgbClr val="1E1E1E"/>
                </a:solidFill>
              </a:defRPr>
            </a:pPr>
            <a:r>
              <a:t>• Qui est responsable: clients, entreprises, État?</a:t>
            </a:r>
          </a:p>
          <a:p>
            <a:pPr>
              <a:defRPr sz="1300">
                <a:solidFill>
                  <a:srgbClr val="1E1E1E"/>
                </a:solidFill>
              </a:defRPr>
            </a:pPr>
            <a:r>
              <a:t>• Quels indicateurs prouvent les efforts?</a:t>
            </a:r>
          </a:p>
          <a:p>
            <a:pPr>
              <a:defRPr sz="1300">
                <a:solidFill>
                  <a:srgbClr val="1E1E1E"/>
                </a:solidFill>
              </a:defRPr>
            </a:pPr>
            <a:r>
              <a:t>• Comment éviter les promesses trompeuses?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55279" y="1737360"/>
            <a:ext cx="365760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B9CD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600">
                <a:solidFill>
                  <a:srgbClr val="14214B"/>
                </a:solidFill>
              </a:defRPr>
            </a:pPr>
            <a:r>
              <a:t>Questions élèves</a:t>
            </a:r>
          </a:p>
          <a:p>
            <a:pPr>
              <a:defRPr sz="1300">
                <a:solidFill>
                  <a:srgbClr val="1E1E1E"/>
                </a:solidFill>
              </a:defRPr>
            </a:pPr>
            <a:r>
              <a:t>• Rédige une définition en classe.</a:t>
            </a:r>
          </a:p>
          <a:p>
            <a:pPr>
              <a:defRPr sz="1300">
                <a:solidFill>
                  <a:srgbClr val="1E1E1E"/>
                </a:solidFill>
              </a:defRPr>
            </a:pPr>
            <a:r>
              <a:t>• Donne 3 critères de vérification.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421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972800" y="91440"/>
            <a:ext cx="1005840" cy="1005840"/>
          </a:xfrm>
          <a:prstGeom prst="ellipse">
            <a:avLst/>
          </a:prstGeom>
          <a:solidFill>
            <a:srgbClr val="F4C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600"/>
            </a:pPr>
            <a:r>
              <a:t>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8016"/>
            <a:ext cx="10241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</a:defRPr>
            </a:pPr>
            <a:r>
              <a:t>20. Consommation responsable - Synthèse finale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960120"/>
            <a:ext cx="11064240" cy="594360"/>
          </a:xfrm>
          <a:prstGeom prst="roundRect">
            <a:avLst/>
          </a:prstGeom>
          <a:solidFill>
            <a:srgbClr val="FFFFFF"/>
          </a:solidFill>
          <a:ln>
            <a:solidFill>
              <a:srgbClr val="2B6E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2B6EB6"/>
                </a:solidFill>
              </a:defRPr>
            </a:pPr>
            <a:r>
              <a:t>Objectif : Relier les 5 notions du chapitre.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37360"/>
            <a:ext cx="722376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B9CD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600">
                <a:solidFill>
                  <a:srgbClr val="14214B"/>
                </a:solidFill>
              </a:defRPr>
            </a:pPr>
            <a:r>
              <a:t>Cas Disney</a:t>
            </a:r>
          </a:p>
          <a:p>
            <a:pPr>
              <a:defRPr sz="1300">
                <a:solidFill>
                  <a:srgbClr val="1E1E1E"/>
                </a:solidFill>
              </a:defRPr>
            </a:pPr>
            <a:r>
              <a:t>• Définition: consommer en réduisant les impacts négatifs.</a:t>
            </a:r>
          </a:p>
          <a:p>
            <a:pPr>
              <a:defRPr sz="1300">
                <a:solidFill>
                  <a:srgbClr val="1E1E1E"/>
                </a:solidFill>
              </a:defRPr>
            </a:pPr>
            <a:r>
              <a:t>• Notions vues: rapport au travail, télétravail, modes de consommation, économie collaborative, consommation responsable.</a:t>
            </a:r>
          </a:p>
          <a:p>
            <a:pPr>
              <a:defRPr sz="1300">
                <a:solidFill>
                  <a:srgbClr val="1E1E1E"/>
                </a:solidFill>
              </a:defRPr>
            </a:pPr>
            <a:r>
              <a:t>• Compétences: analyser, identifier, évaluer, caractériser.</a:t>
            </a:r>
          </a:p>
          <a:p>
            <a:pPr>
              <a:defRPr sz="1300">
                <a:solidFill>
                  <a:srgbClr val="1E1E1E"/>
                </a:solidFill>
              </a:defRPr>
            </a:pPr>
            <a:r>
              <a:t>• Conclusion: les organisations Disney doivent s'adapter aux évolutions.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55279" y="1737360"/>
            <a:ext cx="365760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B9CD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600">
                <a:solidFill>
                  <a:srgbClr val="14214B"/>
                </a:solidFill>
              </a:defRPr>
            </a:pPr>
            <a:r>
              <a:t>Questions élèves</a:t>
            </a:r>
          </a:p>
          <a:p>
            <a:pPr>
              <a:defRPr sz="1300">
                <a:solidFill>
                  <a:srgbClr val="1E1E1E"/>
                </a:solidFill>
              </a:defRPr>
            </a:pPr>
            <a:r>
              <a:t>• Fais ta fiche de révision en 5 parties.</a:t>
            </a:r>
          </a:p>
          <a:p>
            <a:pPr>
              <a:defRPr sz="1300">
                <a:solidFill>
                  <a:srgbClr val="1E1E1E"/>
                </a:solidFill>
              </a:defRPr>
            </a:pPr>
            <a:r>
              <a:t>• Choisis la notion la plus difficile et explique.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